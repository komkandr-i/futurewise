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65" r:id="rId15"/>
    <p:sldId id="259" r:id="rId9"/>
    <p:sldId id="269" r:id="rId19"/>
    <p:sldId id="271" r:id="rId21"/>
    <p:sldId id="267" r:id="rId17"/>
    <p:sldId id="270" r:id="rId20"/>
    <p:sldId id="266" r:id="rId16"/>
    <p:sldId id="258" r:id="rId8"/>
    <p:sldId id="263" r:id="rId13"/>
    <p:sldId id="260" r:id="rId10"/>
    <p:sldId id="273" r:id="rId23"/>
    <p:sldId id="272" r:id="rId22"/>
    <p:sldId id="274" r:id="rId24"/>
  </p:sldIdLst>
  <p:sldSz cy="5143500" cx="9144000"/>
  <p:notesSz cx="6858000" cy="9144000"/>
  <p:embeddedFontLst>
    <p:embeddedFont>
      <p:font typeface="Inter SemiBold"/>
      <p:regular r:id="rId26"/>
      <p:bold r:id="rId27"/>
      <p:italic r:id="rId28"/>
      <p:boldItalic r:id="rId29"/>
    </p:embeddedFont>
    <p:embeddedFont>
      <p:font typeface="Inter Light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Inter Medium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6" Type="http://schemas.openxmlformats.org/officeDocument/2006/relationships/font" Target="fonts/InterSemiBold-regular.fntdata"/><Relationship Id="rId27" Type="http://schemas.openxmlformats.org/officeDocument/2006/relationships/font" Target="fonts/InterSemiBold-bold.fntdata"/><Relationship Id="rId28" Type="http://schemas.openxmlformats.org/officeDocument/2006/relationships/font" Target="fonts/InterSemiBold-italic.fntdata"/><Relationship Id="rId29" Type="http://schemas.openxmlformats.org/officeDocument/2006/relationships/font" Target="fonts/InterSemiBold-boldItalic.fntdata"/><Relationship Id="rId30" Type="http://schemas.openxmlformats.org/officeDocument/2006/relationships/font" Target="fonts/InterLight-regular.fntdata"/><Relationship Id="rId31" Type="http://schemas.openxmlformats.org/officeDocument/2006/relationships/font" Target="fonts/InterLight-bold.fntdata"/><Relationship Id="rId32" Type="http://schemas.openxmlformats.org/officeDocument/2006/relationships/font" Target="fonts/InterLight-italic.fntdata"/><Relationship Id="rId33" Type="http://schemas.openxmlformats.org/officeDocument/2006/relationships/font" Target="fonts/InterLight-boldItalic.fntdata"/><Relationship Id="rId34" Type="http://schemas.openxmlformats.org/officeDocument/2006/relationships/font" Target="fonts/Inter-regular.fntdata"/><Relationship Id="rId35" Type="http://schemas.openxmlformats.org/officeDocument/2006/relationships/font" Target="fonts/Inter-bold.fntdata"/><Relationship Id="rId36" Type="http://schemas.openxmlformats.org/officeDocument/2006/relationships/font" Target="fonts/Inter-italic.fntdata"/><Relationship Id="rId37" Type="http://schemas.openxmlformats.org/officeDocument/2006/relationships/font" Target="fonts/Inter-boldItalic.fntdata"/><Relationship Id="rId38" Type="http://schemas.openxmlformats.org/officeDocument/2006/relationships/font" Target="fonts/InterMedium-regular.fntdata"/><Relationship Id="rId39" Type="http://schemas.openxmlformats.org/officeDocument/2006/relationships/font" Target="fonts/InterMedium-bold.fntdata"/><Relationship Id="rId40" Type="http://schemas.openxmlformats.org/officeDocument/2006/relationships/font" Target="fonts/InterMedium-italic.fntdata"/><Relationship Id="rId41" Type="http://schemas.openxmlformats.org/officeDocument/2006/relationships/font" Target="fonts/Inter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2f8b95a770125a5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h2f8b95a770125a5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Каждая клетка — отдельный расчёт. Видна вся граница безопасной зоны, а не одна точка.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h2f8b95a770125a5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h2f8b95a770125a5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Перед покупкой в рассрочку или кредитом люди смотрят только на платёж. Что будет, если обстоятельства изменятся, не проверяет никто.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2f8b95a770125a5d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2f8b95a770125a5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Выписка разбирается прямо в браузере: колонки, кодировка и категории определяются автоматически.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2f8b95a770125a5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2f8b95a770125a5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ПДН считается по правилам Банка России, ПСК — по формуле ЦБ. Это ориентир, а не решение банка.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2f8b95a770125a5d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2f8b95a770125a5d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FUTUREWISE — сервис, который проверяет крупное финансовое решение до того, как вы его примете.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2f8b95a770125a5d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2f8b95a770125a5d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Сервис не просто говорит «да» или «нет», а находит границы: предел цены и самый ранний безопасный месяц.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2f8b95a770125a5d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2f8b95a770125a5d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2f8b95a770125a5d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2f8b95a770125a5d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Пользователь вводит свои цифры, добавляет возможные неприятности и сразу видит, выдержит ли бюджет.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2f8b95a770125a5d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2f8b95a770125a5d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Демо-сценарий: цифры придуманы для примера. Справа — живая схема с главной страницы сайта, ползунки пересчитывают ветки сразу.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2f8b95a770125a5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2f8b95a770125a5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Три шага. Расчёт помесячный и полностью детерминированный: одни данные всегда дают один результат.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2f8b95a770125a5d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2f8b95a770125a5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Помощник объясняет только уже посчитанное. Без ключа модели объяснения строятся локально.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2f8b95a770125a5d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2f8b95a770125a5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Ограничения из постановки задачи: никаких выдуманных вероятностей, прогнозов и кредитного скоринга.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2f8b95a770125a5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2f8b95a770125a5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-16275" y="814100"/>
            <a:ext cx="6431400" cy="96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Font typeface="Inter Medium"/>
              <a:buChar char="●"/>
              <a:defRPr sz="3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Inter Medium"/>
              <a:buChar char="○"/>
              <a:defRPr sz="32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Inter Medium"/>
              <a:buChar char="■"/>
              <a:defRPr sz="32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Inter Medium"/>
              <a:buChar char="●"/>
              <a:defRPr sz="32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Inter Medium"/>
              <a:buChar char="○"/>
              <a:defRPr sz="32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Inter Medium"/>
              <a:buChar char="■"/>
              <a:defRPr sz="32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Inter Medium"/>
              <a:buChar char="●"/>
              <a:defRPr sz="32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Inter Medium"/>
              <a:buChar char="○"/>
              <a:defRPr sz="32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Inter Medium"/>
              <a:buChar char="■"/>
              <a:defRPr sz="32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2 1 1 1">
  <p:cSld name="TITLE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"/>
          <p:cNvSpPr/>
          <p:nvPr/>
        </p:nvSpPr>
        <p:spPr>
          <a:xfrm>
            <a:off x="0" y="-25"/>
            <a:ext cx="4119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5"/>
          <p:cNvSpPr txBox="1"/>
          <p:nvPr>
            <p:ph idx="1" type="subTitle"/>
          </p:nvPr>
        </p:nvSpPr>
        <p:spPr>
          <a:xfrm>
            <a:off x="219225" y="229000"/>
            <a:ext cx="3419700" cy="11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2" type="subTitle"/>
          </p:nvPr>
        </p:nvSpPr>
        <p:spPr>
          <a:xfrm>
            <a:off x="219225" y="3844900"/>
            <a:ext cx="3419700" cy="110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2">
  <p:cSld name="TITLE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/>
          <p:nvPr/>
        </p:nvSpPr>
        <p:spPr>
          <a:xfrm>
            <a:off x="0" y="-25"/>
            <a:ext cx="5940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6"/>
          <p:cNvSpPr txBox="1"/>
          <p:nvPr>
            <p:ph idx="1" type="subTitle"/>
          </p:nvPr>
        </p:nvSpPr>
        <p:spPr>
          <a:xfrm>
            <a:off x="219225" y="229000"/>
            <a:ext cx="5276100" cy="11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7" name="Google Shape;17;p6"/>
          <p:cNvSpPr txBox="1"/>
          <p:nvPr>
            <p:ph idx="2" type="subTitle"/>
          </p:nvPr>
        </p:nvSpPr>
        <p:spPr>
          <a:xfrm>
            <a:off x="219225" y="4208900"/>
            <a:ext cx="52761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3" type="subTitle"/>
          </p:nvPr>
        </p:nvSpPr>
        <p:spPr>
          <a:xfrm>
            <a:off x="219225" y="2913500"/>
            <a:ext cx="52761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Inter"/>
              <a:buNone/>
              <a:defRPr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2 1">
  <p:cSld name="TITLE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/>
          <p:nvPr/>
        </p:nvSpPr>
        <p:spPr>
          <a:xfrm>
            <a:off x="0" y="-25"/>
            <a:ext cx="73188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7"/>
          <p:cNvSpPr txBox="1"/>
          <p:nvPr>
            <p:ph idx="1" type="subTitle"/>
          </p:nvPr>
        </p:nvSpPr>
        <p:spPr>
          <a:xfrm>
            <a:off x="219225" y="229000"/>
            <a:ext cx="5276100" cy="11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idx="1" type="subTitle"/>
          </p:nvPr>
        </p:nvSpPr>
        <p:spPr>
          <a:xfrm>
            <a:off x="219225" y="229000"/>
            <a:ext cx="5276100" cy="11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Inter SemiBold"/>
              <a:buNone/>
              <a:defRPr sz="2800">
                <a:solidFill>
                  <a:srgbClr val="43434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219225" y="229000"/>
            <a:ext cx="3419700" cy="11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Inter SemiBold"/>
              </a:rPr>
              <a:t>Карта безопасной зоны</a:t>
            </a:r>
            <a:endParaRPr/>
          </a:p>
        </p:txBody>
      </p:sp>
      <p:sp>
        <p:nvSpPr>
          <p:cNvPr id="39" name="Google Shape;39;p11"/>
          <p:cNvSpPr txBox="1"/>
          <p:nvPr>
            <p:ph idx="2" type="subTitle"/>
          </p:nvPr>
        </p:nvSpPr>
        <p:spPr>
          <a:xfrm>
            <a:off x="219225" y="3844900"/>
            <a:ext cx="3419700" cy="110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6B7280"/>
                </a:solidFill>
                <a:latin typeface="Inter"/>
              </a:rPr>
              <a:t>Цена × месяц покупки, кризисный сценарий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434343"/>
                </a:solidFill>
                <a:latin typeface="Inter SemiBold"/>
              </a:rPr>
              <a:t>Безопасно в 75% комбинаций</a:t>
            </a:r>
          </a:p>
        </p:txBody>
      </p:sp>
      <p:pic>
        <p:nvPicPr>
          <p:cNvPr id="40" name="Google Shape;40;p11" title="Contai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7425" y="229000"/>
            <a:ext cx="1782025" cy="2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Picture 40" descr="img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914400"/>
            <a:ext cx="33832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" type="subTitle"/>
          </p:nvPr>
        </p:nvSpPr>
        <p:spPr>
          <a:xfrm>
            <a:off x="219225" y="229000"/>
            <a:ext cx="3419700" cy="11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latin typeface="Inter SemiBold"/>
              </a:rPr>
              <a:t>Решения принимают на глаз</a:t>
            </a:r>
            <a:endParaRPr/>
          </a:p>
        </p:txBody>
      </p:sp>
      <p:sp>
        <p:nvSpPr>
          <p:cNvPr id="46" name="Google Shape;46;p12"/>
          <p:cNvSpPr txBox="1"/>
          <p:nvPr>
            <p:ph idx="2" type="subTitle"/>
          </p:nvPr>
        </p:nvSpPr>
        <p:spPr>
          <a:xfrm>
            <a:off x="219225" y="3844900"/>
            <a:ext cx="3419700" cy="110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434343"/>
                </a:solidFill>
                <a:latin typeface="Inter SemiBold"/>
              </a:rPr>
              <a:t>Никто не проверяет решение заранее</a:t>
            </a:r>
            <a:endParaRPr/>
          </a:p>
        </p:txBody>
      </p:sp>
      <p:sp>
        <p:nvSpPr>
          <p:cNvPr id="47" name="Google Shape;47;p12"/>
          <p:cNvSpPr/>
          <p:nvPr/>
        </p:nvSpPr>
        <p:spPr>
          <a:xfrm>
            <a:off x="230850" y="1462725"/>
            <a:ext cx="2394600" cy="15984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Приложения для бюджета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показывают, куда деньги уже ушли</a:t>
            </a:r>
          </a:p>
        </p:txBody>
      </p:sp>
      <p:sp>
        <p:nvSpPr>
          <p:cNvPr id="48" name="Google Shape;48;p12"/>
          <p:cNvSpPr/>
          <p:nvPr/>
        </p:nvSpPr>
        <p:spPr>
          <a:xfrm>
            <a:off x="2702400" y="1462725"/>
            <a:ext cx="2394600" cy="15984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Калькуляторы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считают платёж, только если всё хорошо</a:t>
            </a:r>
          </a:p>
        </p:txBody>
      </p:sp>
      <p:sp>
        <p:nvSpPr>
          <p:cNvPr id="49" name="Google Shape;49;p12"/>
          <p:cNvSpPr/>
          <p:nvPr/>
        </p:nvSpPr>
        <p:spPr>
          <a:xfrm>
            <a:off x="230850" y="3291922"/>
            <a:ext cx="977400" cy="322200"/>
          </a:xfrm>
          <a:prstGeom prst="roundRect">
            <a:avLst>
              <a:gd fmla="val 50000" name="adj"/>
            </a:avLst>
          </a:prstGeom>
          <a:solidFill>
            <a:srgbClr val="CF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A86E0"/>
                </a:solidFill>
                <a:latin typeface="Inter Medium"/>
              </a:rPr>
              <a:t>Риск</a:t>
            </a:r>
            <a:endParaRPr sz="1000">
              <a:solidFill>
                <a:srgbClr val="0A86E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0" name="Google Shape;50;p12"/>
          <p:cNvSpPr/>
          <p:nvPr/>
        </p:nvSpPr>
        <p:spPr>
          <a:xfrm>
            <a:off x="1266225" y="3291900"/>
            <a:ext cx="1872900" cy="322200"/>
          </a:xfrm>
          <a:prstGeom prst="roundRect">
            <a:avLst>
              <a:gd fmla="val 50000" name="adj"/>
            </a:avLst>
          </a:prstGeom>
          <a:solidFill>
            <a:srgbClr val="CF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A86E0"/>
                </a:solidFill>
                <a:latin typeface="Inter Medium"/>
              </a:rPr>
              <a:t>А если доход упадёт?</a:t>
            </a:r>
            <a:endParaRPr sz="1000">
              <a:solidFill>
                <a:srgbClr val="0A86E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19225" y="229000"/>
            <a:ext cx="3419700" cy="11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Inter SemiBold"/>
              </a:rPr>
              <a:t>Планирование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30850" y="1462725"/>
            <a:ext cx="2394600" cy="15984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Импорт выписки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файл не покидает браузер</a:t>
            </a:r>
          </a:p>
        </p:txBody>
      </p:sp>
      <p:sp>
        <p:nvSpPr>
          <p:cNvPr id="57" name="Google Shape;57;p13"/>
          <p:cNvSpPr/>
          <p:nvPr/>
        </p:nvSpPr>
        <p:spPr>
          <a:xfrm>
            <a:off x="2702400" y="1462725"/>
            <a:ext cx="2394600" cy="15984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Цели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когда накопите на каждую в каждом сценарии</a:t>
            </a:r>
          </a:p>
        </p:txBody>
      </p:sp>
      <p:sp>
        <p:nvSpPr>
          <p:cNvPr id="58" name="Google Shape;58;p13"/>
          <p:cNvSpPr/>
          <p:nvPr/>
        </p:nvSpPr>
        <p:spPr>
          <a:xfrm>
            <a:off x="230850" y="3139125"/>
            <a:ext cx="2394600" cy="15984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Разброс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600 пересчётов с колебаниями дохода и трат</a:t>
            </a:r>
          </a:p>
        </p:txBody>
      </p:sp>
      <p:sp>
        <p:nvSpPr>
          <p:cNvPr id="59" name="Google Shape;59;p13"/>
          <p:cNvSpPr/>
          <p:nvPr/>
        </p:nvSpPr>
        <p:spPr>
          <a:xfrm>
            <a:off x="2702400" y="3139125"/>
            <a:ext cx="2394600" cy="15984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Сравнение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сценарии и варианты решения рядом</a:t>
            </a:r>
          </a:p>
        </p:txBody>
      </p:sp>
      <p:sp>
        <p:nvSpPr>
          <p:cNvPr id="60" name="Google Shape;60;p13"/>
          <p:cNvSpPr/>
          <p:nvPr/>
        </p:nvSpPr>
        <p:spPr>
          <a:xfrm>
            <a:off x="384875" y="2571760"/>
            <a:ext cx="977400" cy="322200"/>
          </a:xfrm>
          <a:prstGeom prst="roundRect">
            <a:avLst>
              <a:gd fmla="val 50000" name="adj"/>
            </a:avLst>
          </a:prstGeom>
          <a:solidFill>
            <a:srgbClr val="CF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A86E0"/>
                </a:solidFill>
                <a:latin typeface="Inter Medium"/>
              </a:rPr>
              <a:t>CSV</a:t>
            </a:r>
            <a:endParaRPr sz="1000">
              <a:solidFill>
                <a:srgbClr val="0A86E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19225" y="229000"/>
            <a:ext cx="5276100" cy="11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Inter SemiBold"/>
              </a:rPr>
              <a:t>Кредиты под контролем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230850" y="1462725"/>
            <a:ext cx="2394600" cy="15984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Долговая нагрузка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доля дохода на кредиты</a:t>
            </a:r>
          </a:p>
        </p:txBody>
      </p:sp>
      <p:sp>
        <p:nvSpPr>
          <p:cNvPr id="80" name="Google Shape;80;p16"/>
          <p:cNvSpPr/>
          <p:nvPr/>
        </p:nvSpPr>
        <p:spPr>
          <a:xfrm>
            <a:off x="2702400" y="1462725"/>
            <a:ext cx="2793000" cy="15984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Кредит как в банке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ПСК, график платежей, досрочное погашение</a:t>
            </a:r>
          </a:p>
        </p:txBody>
      </p:sp>
      <p:sp>
        <p:nvSpPr>
          <p:cNvPr id="81" name="Google Shape;81;p16"/>
          <p:cNvSpPr/>
          <p:nvPr/>
        </p:nvSpPr>
        <p:spPr>
          <a:xfrm>
            <a:off x="230850" y="3139125"/>
            <a:ext cx="2394600" cy="18138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Несколько кредитов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у каждого свой платёж, срок и день списания</a:t>
            </a:r>
          </a:p>
        </p:txBody>
      </p:sp>
      <p:sp>
        <p:nvSpPr>
          <p:cNvPr id="82" name="Google Shape;82;p16"/>
          <p:cNvSpPr/>
          <p:nvPr/>
        </p:nvSpPr>
        <p:spPr>
          <a:xfrm>
            <a:off x="2702400" y="3139125"/>
            <a:ext cx="2793000" cy="18138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Календарь платежей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хватит ли денег до зарплаты день за днём</a:t>
            </a:r>
          </a:p>
        </p:txBody>
      </p:sp>
      <p:sp>
        <p:nvSpPr>
          <p:cNvPr id="83" name="Google Shape;83;p16"/>
          <p:cNvSpPr/>
          <p:nvPr/>
        </p:nvSpPr>
        <p:spPr>
          <a:xfrm>
            <a:off x="384875" y="2571760"/>
            <a:ext cx="977400" cy="322200"/>
          </a:xfrm>
          <a:prstGeom prst="roundRect">
            <a:avLst>
              <a:gd fmla="val 50000" name="adj"/>
            </a:avLst>
          </a:prstGeom>
          <a:solidFill>
            <a:srgbClr val="CF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A86E0"/>
                </a:solidFill>
                <a:latin typeface="Inter Medium"/>
              </a:rPr>
              <a:t>ПДН</a:t>
            </a:r>
            <a:endParaRPr sz="1000">
              <a:solidFill>
                <a:srgbClr val="0A86E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1227600" y="1954725"/>
            <a:ext cx="66888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800">
                <a:solidFill>
                  <a:srgbClr val="FFFFFF"/>
                </a:solidFill>
                <a:latin typeface="Inter SemiBold"/>
              </a:rPr>
              <a:t>FUTUREWISE</a:t>
            </a:r>
            <a:endParaRPr sz="42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2220300" y="4437975"/>
            <a:ext cx="47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FFFFF"/>
                </a:solidFill>
                <a:latin typeface="Inter"/>
              </a:rPr>
              <a:t>Краш-тест финансовых решений</a:t>
            </a:r>
            <a:endParaRPr sz="1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7" name="Google Shape;97;p18" title="Contai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175" y="304800"/>
            <a:ext cx="1782025" cy="2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/>
          <p:nvPr/>
        </p:nvSpPr>
        <p:spPr>
          <a:xfrm>
            <a:off x="230850" y="1462725"/>
            <a:ext cx="2394600" cy="3440700"/>
          </a:xfrm>
          <a:prstGeom prst="roundRect">
            <a:avLst>
              <a:gd fmla="val 72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rgbClr val="0A86E0"/>
                </a:solidFill>
                <a:latin typeface="Inter SemiBold"/>
              </a:rPr>
              <a:t>−15 000 ₽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Купить сразу</a:t>
            </a: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в 1-м месяце денег не хватит, даже если всё по плану</a:t>
            </a:r>
          </a:p>
        </p:txBody>
      </p:sp>
      <p:sp>
        <p:nvSpPr>
          <p:cNvPr id="103" name="Google Shape;103;p19"/>
          <p:cNvSpPr/>
          <p:nvPr/>
        </p:nvSpPr>
        <p:spPr>
          <a:xfrm>
            <a:off x="2702400" y="1462725"/>
            <a:ext cx="2394600" cy="3440700"/>
          </a:xfrm>
          <a:prstGeom prst="roundRect">
            <a:avLst>
              <a:gd fmla="val 72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rgbClr val="0A86E0"/>
                </a:solidFill>
                <a:latin typeface="Inter SemiBold"/>
              </a:rPr>
              <a:t>55 000 ₽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Предел цены</a:t>
            </a: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самая дорогая покупка, которую можно сделать сразу</a:t>
            </a:r>
          </a:p>
        </p:txBody>
      </p:sp>
      <p:sp>
        <p:nvSpPr>
          <p:cNvPr id="104" name="Google Shape;104;p19"/>
          <p:cNvSpPr/>
          <p:nvPr/>
        </p:nvSpPr>
        <p:spPr>
          <a:xfrm>
            <a:off x="5173950" y="1462725"/>
            <a:ext cx="3665400" cy="3440700"/>
          </a:xfrm>
          <a:prstGeom prst="roundRect">
            <a:avLst>
              <a:gd fmla="val 72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rgbClr val="0A86E0"/>
                </a:solidFill>
                <a:latin typeface="Inter SemiBold"/>
              </a:rPr>
              <a:t>4-й месяц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Безопасный срок</a:t>
            </a: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самый ранний месяц покупки, когда запас цел даже в кризис</a:t>
            </a: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219225" y="229000"/>
            <a:ext cx="5276100" cy="11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Inter SemiBold"/>
              </a:rPr>
              <a:t>Что показал краш-тест</a:t>
            </a:r>
            <a:endParaRPr sz="28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6" name="Google Shape;106;p19" title="Contai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325" y="304800"/>
            <a:ext cx="1782025" cy="2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1227600" y="1954725"/>
            <a:ext cx="66888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000">
                <a:solidFill>
                  <a:srgbClr val="FFFFFF"/>
                </a:solidFill>
                <a:latin typeface="Inter SemiBold"/>
              </a:rPr>
              <a:t>Демо</a:t>
            </a:r>
            <a:endParaRPr sz="42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" type="subTitle"/>
          </p:nvPr>
        </p:nvSpPr>
        <p:spPr>
          <a:xfrm>
            <a:off x="219225" y="229000"/>
            <a:ext cx="5276100" cy="11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Inter SemiBold"/>
              </a:rPr>
              <a:t>FUTUREWISE проверяет решение заранее</a:t>
            </a:r>
            <a:endParaRPr/>
          </a:p>
        </p:txBody>
      </p:sp>
      <p:pic>
        <p:nvPicPr>
          <p:cNvPr id="123" name="Google Shape;123;p22" title="Contai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175" y="304800"/>
            <a:ext cx="1782025" cy="2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/>
          <p:nvPr/>
        </p:nvSpPr>
        <p:spPr>
          <a:xfrm>
            <a:off x="5637000" y="1462750"/>
            <a:ext cx="3202200" cy="3440700"/>
          </a:xfrm>
          <a:prstGeom prst="roundRect">
            <a:avLst>
              <a:gd fmla="val 3949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b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0">
                <a:solidFill>
                  <a:srgbClr val="0A86E0"/>
                </a:solidFill>
                <a:latin typeface="Inter SemiBold"/>
              </a:rPr>
              <a:t>3</a:t>
            </a:r>
            <a:endParaRPr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6B7280"/>
                </a:solidFill>
                <a:latin typeface="Inter"/>
              </a:rPr>
              <a:t>сценария на каждое решение</a:t>
            </a:r>
          </a:p>
        </p:txBody>
      </p:sp>
      <p:sp>
        <p:nvSpPr>
          <p:cNvPr id="125" name="Google Shape;125;p22"/>
          <p:cNvSpPr/>
          <p:nvPr/>
        </p:nvSpPr>
        <p:spPr>
          <a:xfrm>
            <a:off x="230850" y="1462725"/>
            <a:ext cx="5276100" cy="3440700"/>
          </a:xfrm>
          <a:prstGeom prst="roundRect">
            <a:avLst>
              <a:gd fmla="val 4846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1E1E1E"/>
                </a:solidFill>
                <a:latin typeface="Inter SemiBold"/>
              </a:rPr>
              <a:t>Краш-тест на ваших цифрах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6B7280"/>
                </a:solidFill>
                <a:latin typeface="Inter"/>
              </a:rPr>
              <a:t>Покупка, рассрочка, кредит, переезд, смена работы</a:t>
            </a: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6B7280"/>
                </a:solidFill>
                <a:latin typeface="Inter"/>
              </a:rPr>
              <a:t>Три сценария: обычный, трудный, кризисный</a:t>
            </a: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6B7280"/>
                </a:solidFill>
                <a:latin typeface="Inter"/>
              </a:rPr>
              <a:t>Момент, когда бюджет перестаёт справляться</a:t>
            </a: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6B7280"/>
                </a:solidFill>
                <a:latin typeface="Inter"/>
              </a:rPr>
              <a:t>Варианты, которые надёжнее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idx="1" type="subTitle"/>
          </p:nvPr>
        </p:nvSpPr>
        <p:spPr>
          <a:xfrm>
            <a:off x="219225" y="229000"/>
            <a:ext cx="5276100" cy="11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Inter SemiBold"/>
              </a:rPr>
              <a:t>Ноутбук за 90 000 ₽</a:t>
            </a:r>
            <a:endParaRPr/>
          </a:p>
        </p:txBody>
      </p:sp>
      <p:pic>
        <p:nvPicPr>
          <p:cNvPr id="131" name="Google Shape;131;p23" title="Contai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175" y="304800"/>
            <a:ext cx="1782025" cy="2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/>
          <p:nvPr/>
        </p:nvSpPr>
        <p:spPr>
          <a:xfrm>
            <a:off x="3611880" y="1462750"/>
            <a:ext cx="5221224" cy="3440700"/>
          </a:xfrm>
          <a:prstGeom prst="roundRect">
            <a:avLst>
              <a:gd fmla="val 3949" name="adj"/>
            </a:avLst>
          </a:prstGeom>
          <a:solidFill>
            <a:srgbClr val="0B101C"/>
          </a:solidFill>
          <a:ln>
            <a:noFill/>
          </a:ln>
        </p:spPr>
        <p:txBody>
          <a:bodyPr anchorCtr="0" anchor="ctr" bIns="144000" lIns="144000" spcFirstLastPara="1" rIns="144000" wrap="square" tIns="144000">
            <a:noAutofit/>
          </a:bodyPr>
          <a:lstStyle/>
          <a:p/>
        </p:txBody>
      </p:sp>
      <p:sp>
        <p:nvSpPr>
          <p:cNvPr id="133" name="Google Shape;133;p23"/>
          <p:cNvSpPr/>
          <p:nvPr/>
        </p:nvSpPr>
        <p:spPr>
          <a:xfrm>
            <a:off x="230850" y="1462725"/>
            <a:ext cx="3291840" cy="3440700"/>
          </a:xfrm>
          <a:prstGeom prst="roundRect">
            <a:avLst>
              <a:gd fmla="val 4846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6B7280"/>
                </a:solidFill>
                <a:latin typeface="Inter"/>
              </a:rPr>
              <a:t>Зарплата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E1E1E"/>
                </a:solidFill>
                <a:latin typeface="Inter SemiBold"/>
              </a:rPr>
              <a:t>60 000 ₽ в месяц</a:t>
            </a: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100">
                <a:solidFill>
                  <a:srgbClr val="6B7280"/>
                </a:solidFill>
                <a:latin typeface="Inter"/>
              </a:rPr>
              <a:t>Расходы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E1E1E"/>
                </a:solidFill>
                <a:latin typeface="Inter SemiBold"/>
              </a:rPr>
              <a:t>35 000 ₽ в месяц</a:t>
            </a: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100">
                <a:solidFill>
                  <a:srgbClr val="6B7280"/>
                </a:solidFill>
                <a:latin typeface="Inter"/>
              </a:rPr>
              <a:t>Накоплено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E1E1E"/>
                </a:solidFill>
                <a:latin typeface="Inter SemiBold"/>
              </a:rPr>
              <a:t>50 000 ₽</a:t>
            </a: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100">
                <a:solidFill>
                  <a:srgbClr val="6B7280"/>
                </a:solidFill>
                <a:latin typeface="Inter"/>
              </a:rPr>
              <a:t>Запас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E1E1E"/>
                </a:solidFill>
                <a:latin typeface="Inter SemiBold"/>
              </a:rPr>
              <a:t>20 000 ₽</a:t>
            </a: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100">
                <a:solidFill>
                  <a:srgbClr val="6B7280"/>
                </a:solidFill>
                <a:latin typeface="Inter"/>
              </a:rPr>
              <a:t>Риски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E1E1E"/>
                </a:solidFill>
                <a:latin typeface="Inter SemiBold"/>
              </a:rPr>
              <a:t>доход −20% на 2 месяца, трата 15 000 ₽</a:t>
            </a:r>
          </a:p>
        </p:txBody>
      </p:sp>
      <p:pic>
        <p:nvPicPr>
          <p:cNvPr id="134" name="Picture 133" descr="img_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794" y="1572478"/>
            <a:ext cx="4319395" cy="32212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idx="1" type="subTitle"/>
          </p:nvPr>
        </p:nvSpPr>
        <p:spPr>
          <a:xfrm>
            <a:off x="219225" y="229000"/>
            <a:ext cx="5276100" cy="11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Inter SemiBold"/>
              </a:rPr>
              <a:t>Как это работает</a:t>
            </a:r>
            <a:endParaRPr/>
          </a:p>
        </p:txBody>
      </p:sp>
      <p:pic>
        <p:nvPicPr>
          <p:cNvPr id="139" name="Google Shape;139;p24" title="Contai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175" y="304800"/>
            <a:ext cx="1782025" cy="2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/>
          <p:nvPr/>
        </p:nvSpPr>
        <p:spPr>
          <a:xfrm>
            <a:off x="230850" y="1462725"/>
            <a:ext cx="2394600" cy="34407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solidFill>
                  <a:srgbClr val="0A86E0"/>
                </a:solidFill>
                <a:latin typeface="Inter SemiBold"/>
              </a:rPr>
              <a:t>01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Ваши цифры</a:t>
            </a: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доход, расходы, накопления, кредиты</a:t>
            </a:r>
          </a:p>
        </p:txBody>
      </p:sp>
      <p:sp>
        <p:nvSpPr>
          <p:cNvPr id="141" name="Google Shape;141;p24"/>
          <p:cNvSpPr/>
          <p:nvPr/>
        </p:nvSpPr>
        <p:spPr>
          <a:xfrm>
            <a:off x="2702400" y="1462725"/>
            <a:ext cx="2394600" cy="34407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solidFill>
                  <a:srgbClr val="0A86E0"/>
                </a:solidFill>
                <a:latin typeface="Inter SemiBold"/>
              </a:rPr>
              <a:t>02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Неприятности</a:t>
            </a: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падение дохода, внезапная трата, задержка зарплаты</a:t>
            </a:r>
          </a:p>
        </p:txBody>
      </p:sp>
      <p:sp>
        <p:nvSpPr>
          <p:cNvPr id="142" name="Google Shape;142;p24"/>
          <p:cNvSpPr/>
          <p:nvPr/>
        </p:nvSpPr>
        <p:spPr>
          <a:xfrm>
            <a:off x="5173950" y="1462725"/>
            <a:ext cx="3665400" cy="34407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>
                <a:solidFill>
                  <a:srgbClr val="0A86E0"/>
                </a:solidFill>
                <a:latin typeface="Inter SemiBold"/>
              </a:rPr>
              <a:t>03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sz="1600">
                <a:solidFill>
                  <a:srgbClr val="1E1E1E"/>
                </a:solidFill>
                <a:latin typeface="Inter SemiBold"/>
              </a:rPr>
              <a:t>Результат</a:t>
            </a: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</a:rPr>
              <a:t>ваш предел, самый трудный месяц и надёжные варианты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idx="1" type="subTitle"/>
          </p:nvPr>
        </p:nvSpPr>
        <p:spPr>
          <a:xfrm>
            <a:off x="219225" y="229000"/>
            <a:ext cx="5276100" cy="11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latin typeface="Inter SemiBold"/>
              </a:rPr>
              <a:t>Под капотом</a:t>
            </a:r>
            <a:endParaRPr/>
          </a:p>
        </p:txBody>
      </p:sp>
      <p:pic>
        <p:nvPicPr>
          <p:cNvPr id="148" name="Google Shape;148;p25" title="Contai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175" y="304800"/>
            <a:ext cx="1782025" cy="2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/>
          <p:nvPr/>
        </p:nvSpPr>
        <p:spPr>
          <a:xfrm>
            <a:off x="230850" y="1462725"/>
            <a:ext cx="8608200" cy="1598400"/>
          </a:xfrm>
          <a:prstGeom prst="roundRect">
            <a:avLst>
              <a:gd fmla="val 7225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/>
          <p:nvPr/>
        </p:nvSpPr>
        <p:spPr>
          <a:xfrm>
            <a:off x="242569" y="3150700"/>
            <a:ext cx="8608200" cy="882900"/>
          </a:xfrm>
          <a:prstGeom prst="roundRect">
            <a:avLst>
              <a:gd fmla="val 17443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>
            <p:ph idx="1" type="subTitle"/>
          </p:nvPr>
        </p:nvSpPr>
        <p:spPr>
          <a:xfrm>
            <a:off x="219225" y="4182725"/>
            <a:ext cx="86199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6B7280"/>
                </a:solidFill>
                <a:latin typeface="Inter"/>
              </a:rPr>
              <a:t>Без регистрации и без доступа к банку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25"/>
          <p:cNvSpPr txBox="1"/>
          <p:nvPr>
            <p:ph idx="2" type="subTitle"/>
          </p:nvPr>
        </p:nvSpPr>
        <p:spPr>
          <a:xfrm>
            <a:off x="355075" y="1810725"/>
            <a:ext cx="8292000" cy="11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1E1E1E"/>
                </a:solidFill>
                <a:latin typeface="Inter SemiBold"/>
              </a:rPr>
              <a:t>Next.js 14 · React · TypeScript · Tailwind · Recharts · Zod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6B7280"/>
                </a:solidFill>
                <a:latin typeface="Inter"/>
              </a:rPr>
              <a:t>Детерминированное ядро: одни данные — всегда один результат</a:t>
            </a:r>
          </a:p>
        </p:txBody>
      </p:sp>
      <p:sp>
        <p:nvSpPr>
          <p:cNvPr id="153" name="Google Shape;153;p25"/>
          <p:cNvSpPr txBox="1"/>
          <p:nvPr>
            <p:ph idx="3" type="subTitle"/>
          </p:nvPr>
        </p:nvSpPr>
        <p:spPr>
          <a:xfrm>
            <a:off x="355075" y="3336225"/>
            <a:ext cx="82920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E1E1E"/>
                </a:solidFill>
                <a:latin typeface="Inter"/>
              </a:rPr>
              <a:t>67 автотестов · работает без сети · ИИ-помощник с локальным запасным режимом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idx="1" type="subTitle"/>
          </p:nvPr>
        </p:nvSpPr>
        <p:spPr>
          <a:xfrm>
            <a:off x="2173925" y="908175"/>
            <a:ext cx="4799400" cy="110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rgbClr val="434343"/>
                </a:solidFill>
                <a:latin typeface="Inter SemiBold"/>
              </a:rPr>
              <a:t>Честный расчёт</a:t>
            </a:r>
            <a:endParaRPr/>
          </a:p>
        </p:txBody>
      </p:sp>
      <p:pic>
        <p:nvPicPr>
          <p:cNvPr id="159" name="Google Shape;159;p26" title="Contain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7175" y="304800"/>
            <a:ext cx="1782025" cy="2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Mode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6608" y="1411425"/>
            <a:ext cx="2909275" cy="6511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 title="Mode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909065" y="573225"/>
            <a:ext cx="2909275" cy="651169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>
            <p:ph idx="1" type="subTitle"/>
          </p:nvPr>
        </p:nvSpPr>
        <p:spPr>
          <a:xfrm>
            <a:off x="2173900" y="3578075"/>
            <a:ext cx="4799400" cy="133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6B7280"/>
                </a:solidFill>
                <a:latin typeface="Inter"/>
              </a:rPr>
              <a:t>Все цифры — из одного расчёта по вашим данным. Данные остаются в браузере.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Rounded Rectangle 162"/>
          <p:cNvSpPr/>
          <p:nvPr/>
        </p:nvSpPr>
        <p:spPr>
          <a:xfrm>
            <a:off x="2176272" y="224028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CF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100">
                <a:solidFill>
                  <a:srgbClr val="0A86E0"/>
                </a:solidFill>
                <a:latin typeface="Inter Medium"/>
              </a:rPr>
              <a:t>Не выдумываем вероятности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645152" y="224028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CF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100">
                <a:solidFill>
                  <a:srgbClr val="0A86E0"/>
                </a:solidFill>
                <a:latin typeface="Inter Medium"/>
              </a:rPr>
              <a:t>Не прогнозируем будущее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2176272" y="280720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CF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100">
                <a:solidFill>
                  <a:srgbClr val="0A86E0"/>
                </a:solidFill>
                <a:latin typeface="Inter Medium"/>
              </a:rPr>
              <a:t>Не оцениваем кредит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645152" y="280720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CF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100">
                <a:solidFill>
                  <a:srgbClr val="0A86E0"/>
                </a:solidFill>
                <a:latin typeface="Inter Medium"/>
              </a:rPr>
              <a:t>Не просим данные банка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 title="Cont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80681" y="1949675"/>
            <a:ext cx="7518902" cy="35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>
            <p:ph idx="1" type="subTitle"/>
          </p:nvPr>
        </p:nvSpPr>
        <p:spPr>
          <a:xfrm>
            <a:off x="219225" y="229000"/>
            <a:ext cx="5276100" cy="7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rgbClr val="434343"/>
                </a:solidFill>
                <a:latin typeface="Inter SemiBold"/>
              </a:rPr>
              <a:t>Спасибо!</a:t>
            </a:r>
            <a:endParaRPr/>
          </a:p>
        </p:txBody>
      </p:sp>
      <p:sp>
        <p:nvSpPr>
          <p:cNvPr id="169" name="Google Shape;169;p27"/>
          <p:cNvSpPr txBox="1"/>
          <p:nvPr>
            <p:ph idx="1" type="subTitle"/>
          </p:nvPr>
        </p:nvSpPr>
        <p:spPr>
          <a:xfrm>
            <a:off x="6756300" y="2698700"/>
            <a:ext cx="2119500" cy="19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>
                <a:solidFill>
                  <a:srgbClr val="434343"/>
                </a:solidFill>
                <a:latin typeface="Inter SemiBold"/>
              </a:rPr>
              <a:t>Вопросы?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27"/>
          <p:cNvSpPr txBox="1"/>
          <p:nvPr>
            <p:ph idx="2" type="subTitle"/>
          </p:nvPr>
        </p:nvSpPr>
        <p:spPr>
          <a:xfrm>
            <a:off x="219225" y="1192550"/>
            <a:ext cx="8656500" cy="11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6B7280"/>
                </a:solidFill>
                <a:latin typeface="Inter"/>
              </a:rPr>
              <a:t>FUTUREWISE — краш-тест финансовых решений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27"/>
          <p:cNvSpPr txBox="1"/>
          <p:nvPr>
            <p:ph idx="3" type="subTitle"/>
          </p:nvPr>
        </p:nvSpPr>
        <p:spPr>
          <a:xfrm>
            <a:off x="427100" y="2787800"/>
            <a:ext cx="58686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FFF"/>
                </a:solidFill>
                <a:latin typeface="Inter SemiBold"/>
              </a:rPr>
              <a:t>Проверьте решение до того, как оно станет реальностью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2" name="Google Shape;172;p27" title="Contain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7175" y="304800"/>
            <a:ext cx="1782025" cy="2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